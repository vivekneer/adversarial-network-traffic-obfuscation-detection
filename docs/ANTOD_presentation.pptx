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47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C6470"/>
                </a:solidFill>
                <a:latin typeface="Arial"/>
              </a:rPr>
              <a:t>Test set, 4,000 flows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1D-CNN</c:v>
                  </c:pt>
                  <c:pt idx="1">
                    <c:v>MLP</c:v>
                  </c:pt>
                  <c:pt idx="2">
                    <c:v>Bi-GRU</c:v>
                  </c:pt>
                  <c:pt idx="3">
                    <c:v>Hybrid</c:v>
                  </c:pt>
                  <c:pt idx="4">
                    <c:v>Hybrid + adv. training</c:v>
                  </c:pt>
                  <c:pt idx="5">
                    <c:v>Random forest</c:v>
                  </c:pt>
                  <c:pt idx="6">
                    <c:v>RBF SVM</c:v>
                  </c:pt>
                  <c:pt idx="7">
                    <c:v>Logistic reg.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0.941</c:v>
                </c:pt>
                <c:pt idx="1">
                  <c:v>0.9618</c:v>
                </c:pt>
                <c:pt idx="2">
                  <c:v>0.9293</c:v>
                </c:pt>
                <c:pt idx="3">
                  <c:v>0.9688</c:v>
                </c:pt>
                <c:pt idx="4">
                  <c:v>0.965</c:v>
                </c:pt>
                <c:pt idx="5">
                  <c:v>0.9723</c:v>
                </c:pt>
                <c:pt idx="6">
                  <c:v>0.9683</c:v>
                </c:pt>
                <c:pt idx="7">
                  <c:v>0.922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obfuscated recall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1D-CNN</c:v>
                  </c:pt>
                  <c:pt idx="1">
                    <c:v>MLP</c:v>
                  </c:pt>
                  <c:pt idx="2">
                    <c:v>Bi-GRU</c:v>
                  </c:pt>
                  <c:pt idx="3">
                    <c:v>Hybrid</c:v>
                  </c:pt>
                  <c:pt idx="4">
                    <c:v>Hybrid + adv. training</c:v>
                  </c:pt>
                  <c:pt idx="5">
                    <c:v>Random forest</c:v>
                  </c:pt>
                  <c:pt idx="6">
                    <c:v>RBF SVM</c:v>
                  </c:pt>
                  <c:pt idx="7">
                    <c:v>Logistic reg.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0.8856</c:v>
                </c:pt>
                <c:pt idx="1">
                  <c:v>0.9311</c:v>
                </c:pt>
                <c:pt idx="2">
                  <c:v>0.8811</c:v>
                </c:pt>
                <c:pt idx="3">
                  <c:v>0.9424</c:v>
                </c:pt>
                <c:pt idx="4">
                  <c:v>0.9424</c:v>
                </c:pt>
                <c:pt idx="5">
                  <c:v>0.9492</c:v>
                </c:pt>
                <c:pt idx="6">
                  <c:v>0.9386</c:v>
                </c:pt>
                <c:pt idx="7">
                  <c:v>0.8568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47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C6470"/>
                </a:solidFill>
                <a:latin typeface="Arial"/>
              </a:rPr>
              <a:t>Accuracy vs PGD budget ε (domain-constrained)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1D-CNN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0.941</c:v>
                </c:pt>
                <c:pt idx="1">
                  <c:v>0.9263</c:v>
                </c:pt>
                <c:pt idx="2">
                  <c:v>0.7376</c:v>
                </c:pt>
                <c:pt idx="3">
                  <c:v>0.5119</c:v>
                </c:pt>
                <c:pt idx="4">
                  <c:v>0.3979</c:v>
                </c:pt>
                <c:pt idx="5">
                  <c:v>0.3547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0.9618</c:v>
                </c:pt>
                <c:pt idx="1">
                  <c:v>0.9508</c:v>
                </c:pt>
                <c:pt idx="2">
                  <c:v>0.894</c:v>
                </c:pt>
                <c:pt idx="3">
                  <c:v>0.5884</c:v>
                </c:pt>
                <c:pt idx="4">
                  <c:v>0.3599</c:v>
                </c:pt>
                <c:pt idx="5">
                  <c:v>0.129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Bi-GRU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0.93</c:v>
                </c:pt>
                <c:pt idx="1">
                  <c:v>0.806</c:v>
                </c:pt>
                <c:pt idx="2">
                  <c:v>0.57</c:v>
                </c:pt>
                <c:pt idx="3">
                  <c:v>0.486</c:v>
                </c:pt>
                <c:pt idx="4">
                  <c:v>0.418</c:v>
                </c:pt>
                <c:pt idx="5">
                  <c:v>0.382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0.9688</c:v>
                </c:pt>
                <c:pt idx="1">
                  <c:v>0.959</c:v>
                </c:pt>
                <c:pt idx="2">
                  <c:v>0.911</c:v>
                </c:pt>
                <c:pt idx="3">
                  <c:v>0.7276</c:v>
                </c:pt>
                <c:pt idx="4">
                  <c:v>0.4016</c:v>
                </c:pt>
                <c:pt idx="5">
                  <c:v>0.2417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Hybrid + adv. training</c:v>
                </c:pt>
              </c:strCache>
            </c:strRef>
          </c:tx>
          <c:spPr>
            <a:solidFill>
              <a:srgbClr val="4A3AA7"/>
            </a:solidFill>
            <a:ln w="25400" cap="flat">
              <a:solidFill>
                <a:srgbClr val="4A3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0.965</c:v>
                </c:pt>
                <c:pt idx="1">
                  <c:v>0.9595</c:v>
                </c:pt>
                <c:pt idx="2">
                  <c:v>0.9525</c:v>
                </c:pt>
                <c:pt idx="3">
                  <c:v>0.9375</c:v>
                </c:pt>
                <c:pt idx="4">
                  <c:v>0.8413</c:v>
                </c:pt>
                <c:pt idx="5">
                  <c:v>0.4539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ε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signature-based DPI reads packet contents; modern malware evades it by reshaping traffic. We learn the shape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real evasion class from the DPI-evasion literature. None of them changes the payload semantics; they change the observable shape. Once traffic is encrypted, shape is all a defender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classes, not two: separating plain from obfuscated malicious traffic is what lets us ask which evasion technique works. Then the adversarial ML loop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corpus annotates which flows were padded or tunnelled, so we generate: 20,000 flows, balanced thirds, every recipe recorded per flow. That is what makes the per-technique breakdown possible. Real captures are supported via tshark per-packet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CNN uses three conv stages because evidence lives at three scales: one padded packet, one exchange, the whole flow's cadence. Average and max pooling are both kept: 'how much looks padded' vs 'does anything look padded'. All models are under 200k parameters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Targeted attacks aim at the benign class - being mistaken for ordinary traffic is what an evader wants, not just misclassification. Evasion rate, not accuracy, is what an attacker optimises.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on this synthetic data the feature-engineered forest is the strongest clean classifier. The case for the deep models rests on the adversarial results that follow, and on the hybrid that combines both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bar is 400 freshly generated malicious flows obfuscated by exactly one transform, so a miss is attributed to a technique rather than a mixed recipe. This is the question an average cannot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of the curve is the result: graceful decay and a cliff at the same midpoint are different security properties. Compare the defended and undefended hybrid: same architecture, same loop, same seed - the only difference is the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of these are things a mini project usually skips. The packet-space attack is the strictly correct threat model - no feature-box approximation. The base-rate slide is why FPR matters more than accuracy for anything that will actually be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tracked in docs/FUTURE_WORK.md with what is done ticked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repository: everything reproduces from one config file and one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Network Traffic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Obfuscation Detection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malware that hides how it talks, not what it says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Neeralagi · Muhammad Shahbik · Aravind P Sagar · J Aditya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Mini Project (CS722T2C) · Dept. of CSE, Sahyadri College of Engineering &amp; Management · Guide: Mrs. Varsha 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DPI reads bytes, attackers reshape flows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DPI misses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every packet to a block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signatures vanish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jitter / shaping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randomise or flatten inter-arrival 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 periodicity vanishes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records below the MTU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signatures span boundaries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Tunnelling (VPN/TLS)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the flow in 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unreadable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mimicry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like video or web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benign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9728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234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encryption and reshaping?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745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flow: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packet sizes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inter-arrival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aggregate statistics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we learn from.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25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benign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traffic - including padded or tunnelled traffic (a VPN user is benign).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2768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malicious, plain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traffic making no attempt to hide.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8328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3328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malicious, obfuscated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94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traffic reshaped to evade DPI. The class that matters: a signature engine already lets it through.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0" y="117043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0972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12 traffic profiles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20640" y="171907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6459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8 obfuscation transforms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226771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194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sequence + statistics views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20640" y="281635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27432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CNN / MLP / GRU / hybrid + baselines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20640" y="336499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06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3291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with constrained FGSM/PGD + packet-space search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20640" y="3913632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38404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with adversarial training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obfuscation is applied, not inferred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252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benign profiles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 · video streaming · VoIP · file download · DNS · interactive SSH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8016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13048" y="12252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malicious profiles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 · data exfiltration · port scan · brute force · DDoS flood · reverse shell (deliberately overlaps SSH)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01968" y="12252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transforms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random padding · fragmentation · timing jitter · constant-rate shaping · dummy injection · tunnel encapsulation · protocol mimicry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that keep the experiment honest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20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benign flows are obfuscated too, and stay labelled benign. Otherwise the model learns 'obfuscated = malicious' and flags every VPN user.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mimicry preserves byte volume. An attacker can reshape traffic but cannot decide not to send the bytes - without this the problem is ill-posed, not merely hard.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views of a flow, four detectors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252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view  (4 × 128)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128 packets. Channels: signed size (size/MTU × direction), log inter-arrival time, direction, validity mask. Read by the 1D-CNN and GRU.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28016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76088" y="12252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view  (51 features)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size and timing moments plus obfuscation probes: size-grid occupancy (padding), size diversity, timing regularity (beacons vs shaping). Read by the MLP and classical baselines.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1,25,827 params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94.1%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recall 88.6%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9260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55,555 params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96.2%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recall 93.1%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Bi-GRU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35,331 params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92.9%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recall 88.1%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29260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CNN+MLP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1,49,315 params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96.9%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recall 94.2%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threat model: pad-only, delay-only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FGSM perturbs every pixel in either direction. Traffic does not work that way.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controlling a malicious flow can PAD a packet (grow it, never shrink - the payload must fit) and DELAY a packet (later, never earlier - causality).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cannot flip. Packets cannot be conjured at a fixed position.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feasible set is a one-sided box, not a symmetric ball. Statistics get the same treatment: proportions stay in [0,1], counts non-negative.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unconstrained attack too: the gap between the two measures how much a naive evaluation overstates the threat.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88720"/>
          <a:ext cx="3200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only grow, up to MTU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inter-arrival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only increase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packet-space black-box attack: edit the raw packets with pad/delay, re-extract features, query only the output. Every adversarial flow it produces could actually be sent.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results: the honest comparison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5087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the 51 hand-built statistics reaches 97.2% - it beats the plain CNN (94.1%) on clean synthetic data.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deep model: Hybrid at 96.9%, obfuscated recall 94.2%.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models have to earn their place on robustness, not clean accuracy. We say so.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evasion techniques get through? (hybrid)</a:t>
            </a:r>
            <a:endParaRPr lang="en-US" sz="3000" dirty="0"/>
          </a:p>
        </p:txBody>
      </p:sp>
      <p:pic>
        <p:nvPicPr>
          <p:cNvPr id="3" name="Image 0" descr="C:\Users\vivek\projects\deep_learning_assignment\experiments\results\hybrid\figures\per_technique_rec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937760" cy="3566160"/>
          </a:xfrm>
          <a:prstGeom prst="rect">
            <a:avLst/>
          </a:prstGeom>
        </p:spPr>
      </p:pic>
      <p:pic>
        <p:nvPicPr>
          <p:cNvPr id="4" name="Image 1" descr="C:\Users\vivek\projects\deep_learning_assignment\experiments\results\hybrid\figures\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0" y="1051560"/>
            <a:ext cx="3108960" cy="2560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3703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fragmentation (65.3%)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Easiest: block padding (99.3%)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under attack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5087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at ε=0.1: 72.8% constrained vs 64.8% unconstrained - ignoring physics overstates the threat.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training: 72.8% → 93.8% at ε=0.1, at a clean-accuracy cost of 0.4%.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evasion (malicious read as benign) at ε=0.2: 16.9% for the undefended hybrid.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reality checks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Packet-space black-box attack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flows walked to 'benign'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legal pad/delay edits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bytes the attacker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pay, on average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hybrid_advtrain: 198 flows, &lt;=150 queries each, 31 queries per successful evasion. Undefended hybrid: 10% - adversarial training did not help against this search, unlike gradient PGD.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 reality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when 99%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benign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flows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test set has 34% benign traffic; real networks are &gt;99%. The same FPR of 4.5% that looks harmless on a balanced set is what this becomes in deployment.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temperature 0.74, ECE 0.043 → 0.006 after temperature scaling. Probabilities can now be used to set an alert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2252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 data: absolute accuracy is an upper bound; read the results relatively.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attacks perturb features; the packet-space attack is the ground truth and is a lower bound on evasion (greedy search).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attack config for adversarial training.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classes - hence the base-rate slide.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128-packet window during training (sliding-window inference exists).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28016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76088" y="12252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on real PCAPs (CIC-IDS2017 via tshark per-packet export - loader is ready).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Three-seed variance for every claim (script is ready).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Stronger black-box search (NES / SimBA).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TRADES-style adversarial training, adv_ratio sweep.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over the packet sequence.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Certified smoothing bounds.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shape, not the bytes.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three-class detector for obfuscated malicious traffic, with exact labels because we apply the obfuscation ourselves.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constrained to what an attacker can physically do - pad and delay - plus a packet-space attack with no approximation at 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honestly: where the forest wins, what adversarial training costs, and what the false-positive rate means at 99% benign.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github.com/VivekNeer/Adversarial-Network-Traffic-Obfuscation-Detection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Network Traffic Obfuscation Detection</dc:title>
  <dc:subject>PptxGenJS Presentation</dc:subject>
  <dc:creator>Vivek Neeralagi, Muhammad Shahbik, Aravind P Sagar, J Aditya</dc:creator>
  <cp:lastModifiedBy>Vivek Neeralagi, Muhammad Shahbik, Aravind P Sagar, J Aditya</cp:lastModifiedBy>
  <cp:revision>1</cp:revision>
  <dcterms:created xsi:type="dcterms:W3CDTF">2026-09-17T03:48:52Z</dcterms:created>
  <dcterms:modified xsi:type="dcterms:W3CDTF">2026-09-17T03:48:52Z</dcterms:modified>
</cp:coreProperties>
</file>